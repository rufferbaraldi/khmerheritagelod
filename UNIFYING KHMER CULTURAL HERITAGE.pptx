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8AC"/>
    <a:srgbClr val="FDF5B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417DF-BF95-87CF-5A29-F82DC21FE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E2A49B-C9B4-7772-BE48-DCBE8154B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E60FEA-42AE-7BC7-01E4-766424CC7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322B5B-B379-F70E-79DC-1E383B5B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B658E7-747D-1A87-9E8F-92A11AD5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2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AC45B-6F5B-6DC8-1C0C-9F72911D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A48CA2-E7F4-7ECF-15A2-5591C63F5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C0C608-905C-9CDB-6E91-683A0AFE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FDF0F6-CDAE-2ACC-39DD-30EE24E8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EB854D-FDA1-FAA2-D305-CFB431C9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17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444DB-3C04-A23E-B129-59F59D17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DE11BC-B96D-3942-01AB-E9939877C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8178E3-5100-61D4-4682-220BC483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DC9C24-34A7-BB9D-843C-0CD6AAEE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393C24-539F-B01A-147E-8370A355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5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23AEC-F03E-3961-EF69-D6DCAF2C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A81D19-BAF3-1AF9-32C3-3EF6ABBA7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912EA4-0B11-3E84-F598-490EC109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376983-62AF-ADF0-DF02-0D720CDA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AC453E-0E52-098F-3A6A-DFAF29AA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B0C7F5-A974-429B-7070-332CCD33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0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BDB91-9D82-8956-9729-27C74C8DB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23275C-2FC7-31A3-41E2-369CA6AB7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FDB831-7F2F-AB69-C88D-979A96AA0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DFF23C-6708-4624-3287-E50B813FA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3C1291-5852-217C-E86F-A558D8430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D443918-D14B-AF51-7C71-BCFFD561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22742E9-E736-BF90-B31B-860E8F70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6808AB4-7366-7329-B2D0-89460CDA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4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E4316-9AFC-D040-73EC-B721C1F3F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2997456-C6BB-16B6-E025-D0A3F07F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85BC562-FDB0-A467-419E-2850CBB7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69AF1B-41AE-6A6F-CC25-2F48BFAF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6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F86FA0-FD39-A9CF-572D-10AFBBE13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75FFD3-0F11-886E-4249-99B77CAA0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76B6C3-869F-A1C9-13B4-22F5AB02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B2367-170F-EA82-B0FE-BBFDFEBB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05B53D-57AB-1FC1-9817-6A32F1C97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E8A945-85A8-D483-F90D-CE223F7CB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FD1869-3F03-C175-CA45-7BED62680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FB9E2F-626F-CC61-E3CD-69225937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D17CD4-BDB0-BCE0-1E4E-4F31A04A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4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DC39B-E47B-26A1-1190-EBA4D08B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09C684-1ACB-8F28-42D3-34961C29547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7B4753-6A9A-5ADB-5D9B-6905A92A0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AD34ED-C530-F9EF-5548-B8D6C9C19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82F238-71E0-77FF-76BB-58C28A13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AFFE3C-8361-C4C0-D728-798422B7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3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51B1D-34BA-6E81-3F6E-A738FC2B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9FA65E-B4C3-F707-B698-5E4ACEBDF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F6D3CF-E4F7-10E6-E0F3-9CAC4CBC2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5B9195-440A-C87A-7525-28C07242C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2F754B-CCB2-16D6-E178-62D170D6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3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617D11-36C1-C33E-6FB1-FB7ABD8F3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FD9F2-D11A-01F8-8B25-30E3E73F3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4B6F1C-3107-9341-4AFD-0FDA20594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6304E8-25E3-1E81-A94A-31EFF62E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47C0B0-AC6E-26C1-C22D-072C8131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8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F256E1-D6DF-7335-54D1-56FD1C8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73C322-8AAF-E8B8-4EE5-93AC63581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562C57-E736-9183-C383-20C4BEC50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70BB8-7C14-45ED-B8F6-811A4E2CDCD1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BFEA58-6DB8-8C24-7C09-93342BCCE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877E3C-A4F2-DA2E-FDF2-DEA9C18AE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72DD2-1BBE-4F29-B283-1B4768FD4AE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3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E060B1B-B8D0-F2F0-6A54-C28F056B04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80014" y="1867970"/>
            <a:ext cx="8631971" cy="119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4800" dirty="0">
                <a:latin typeface="Lora" pitchFamily="2" charset="0"/>
                <a:ea typeface="Aptos Display" pitchFamily="34" charset="-122"/>
                <a:cs typeface="Aptos Display" pitchFamily="34" charset="-120"/>
              </a:rPr>
              <a:t>UNIFYING KHMER CULTURAL HERITAGE:</a:t>
            </a:r>
            <a:br>
              <a:rPr lang="en-US" sz="4800" dirty="0">
                <a:latin typeface="Lora" pitchFamily="2" charset="0"/>
                <a:ea typeface="Aptos Display" pitchFamily="34" charset="-122"/>
                <a:cs typeface="Aptos Display" pitchFamily="34" charset="-120"/>
              </a:rPr>
            </a:br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A Semantic Data Model for Cross-Institutional Integration</a:t>
            </a:r>
            <a:br>
              <a:rPr lang="en-US" sz="3200" dirty="0">
                <a:latin typeface="Lora" pitchFamily="2" charset="0"/>
              </a:rPr>
            </a:br>
            <a:endParaRPr lang="en-US" sz="2800" dirty="0">
              <a:latin typeface="Lora" pitchFamily="2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4971A60-B0D5-6442-1683-3B6EC5E2CC27}"/>
              </a:ext>
            </a:extLst>
          </p:cNvPr>
          <p:cNvSpPr txBox="1"/>
          <p:nvPr/>
        </p:nvSpPr>
        <p:spPr>
          <a:xfrm>
            <a:off x="2715837" y="593173"/>
            <a:ext cx="6760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latin typeface="Lora" pitchFamily="2" charset="0"/>
                <a:ea typeface="Aptos" pitchFamily="34" charset="-122"/>
                <a:cs typeface="Aptos" pitchFamily="34" charset="-120"/>
              </a:rPr>
              <a:t>University of Bologna          </a:t>
            </a:r>
          </a:p>
          <a:p>
            <a:pPr algn="ctr"/>
            <a:r>
              <a:rPr lang="en-US" sz="1400" dirty="0">
                <a:latin typeface="Lora" pitchFamily="2" charset="0"/>
                <a:ea typeface="Aptos" pitchFamily="34" charset="-122"/>
                <a:cs typeface="Aptos" pitchFamily="34" charset="-120"/>
              </a:rPr>
              <a:t>Master in Digital Humanities and Digital Knowledge</a:t>
            </a:r>
            <a:endParaRPr lang="en-US" sz="1400" dirty="0">
              <a:latin typeface="Lora" pitchFamily="2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545733D-DD58-5118-AB2B-D6F8BAA6B44A}"/>
              </a:ext>
            </a:extLst>
          </p:cNvPr>
          <p:cNvSpPr txBox="1"/>
          <p:nvPr/>
        </p:nvSpPr>
        <p:spPr>
          <a:xfrm>
            <a:off x="931115" y="5126576"/>
            <a:ext cx="4251957" cy="6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Lora" pitchFamily="2" charset="0"/>
                <a:ea typeface="Aptos" pitchFamily="34" charset="-122"/>
                <a:cs typeface="Aptos" pitchFamily="34" charset="-120"/>
              </a:rPr>
              <a:t>Supervisor: Prof. Francesca Tomasi                              </a:t>
            </a:r>
          </a:p>
          <a:p>
            <a:pPr marL="0" indent="0">
              <a:buNone/>
            </a:pPr>
            <a:r>
              <a:rPr lang="en-US" sz="1400" dirty="0">
                <a:latin typeface="Lora" pitchFamily="2" charset="0"/>
                <a:ea typeface="Aptos" pitchFamily="34" charset="-122"/>
                <a:cs typeface="Aptos" pitchFamily="34" charset="-120"/>
              </a:rPr>
              <a:t>Co-supervisor: Ph.D. Valentina Pasqual</a:t>
            </a:r>
            <a:endParaRPr lang="en-US" sz="1400" dirty="0">
              <a:latin typeface="Lora" pitchFamily="2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B1D97F85-F6DC-922B-EBE7-C2C25136FC6F}"/>
              </a:ext>
            </a:extLst>
          </p:cNvPr>
          <p:cNvSpPr txBox="1"/>
          <p:nvPr/>
        </p:nvSpPr>
        <p:spPr>
          <a:xfrm>
            <a:off x="5183072" y="3975057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latin typeface="Aptos" pitchFamily="34" charset="0"/>
                <a:ea typeface="Aptos" pitchFamily="34" charset="-122"/>
                <a:cs typeface="Aptos" pitchFamily="34" charset="-120"/>
              </a:rPr>
              <a:t>THESIS DEFENSE</a:t>
            </a:r>
            <a:endParaRPr lang="en-US" sz="13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D149E190-FD69-C3DC-9C9B-782A0A202CED}"/>
              </a:ext>
            </a:extLst>
          </p:cNvPr>
          <p:cNvSpPr txBox="1"/>
          <p:nvPr/>
        </p:nvSpPr>
        <p:spPr>
          <a:xfrm>
            <a:off x="4238370" y="4284077"/>
            <a:ext cx="39010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kern="0" dirty="0">
                <a:latin typeface="Lora" pitchFamily="2" charset="0"/>
              </a:rPr>
              <a:t>Rubens Fernandes Junior</a:t>
            </a:r>
            <a:endParaRPr lang="en-US" dirty="0">
              <a:latin typeface="Lora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E56C15E-84CE-656E-5547-D88A74133FE6}"/>
              </a:ext>
            </a:extLst>
          </p:cNvPr>
          <p:cNvSpPr txBox="1"/>
          <p:nvPr/>
        </p:nvSpPr>
        <p:spPr>
          <a:xfrm>
            <a:off x="3008670" y="5887650"/>
            <a:ext cx="6174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Lora" pitchFamily="2" charset="0"/>
                <a:ea typeface="Aptos" pitchFamily="34" charset="-122"/>
                <a:cs typeface="Aptos" pitchFamily="34" charset="-120"/>
              </a:rPr>
              <a:t>October</a:t>
            </a:r>
            <a:r>
              <a:rPr lang="en-US" sz="1600" dirty="0">
                <a:latin typeface="Lora" pitchFamily="2" charset="0"/>
                <a:ea typeface="Aptos" pitchFamily="34" charset="-122"/>
                <a:cs typeface="Aptos" pitchFamily="34" charset="-120"/>
              </a:rPr>
              <a:t> 2026</a:t>
            </a:r>
            <a:endParaRPr lang="en-US" sz="16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9AB436F-9706-5600-8807-932BAA88D6D4}"/>
              </a:ext>
            </a:extLst>
          </p:cNvPr>
          <p:cNvCxnSpPr/>
          <p:nvPr/>
        </p:nvCxnSpPr>
        <p:spPr>
          <a:xfrm>
            <a:off x="2013995" y="4284077"/>
            <a:ext cx="2430684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6FDA5F3-A3CC-8246-395E-D254D2B5A63D}"/>
              </a:ext>
            </a:extLst>
          </p:cNvPr>
          <p:cNvCxnSpPr/>
          <p:nvPr/>
        </p:nvCxnSpPr>
        <p:spPr>
          <a:xfrm>
            <a:off x="7872714" y="4284000"/>
            <a:ext cx="2430684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865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A1459602-1CB8-B3BA-7837-0047525D435B}"/>
              </a:ext>
            </a:extLst>
          </p:cNvPr>
          <p:cNvSpPr txBox="1">
            <a:spLocks/>
          </p:cNvSpPr>
          <p:nvPr/>
        </p:nvSpPr>
        <p:spPr>
          <a:xfrm>
            <a:off x="4039461" y="2558129"/>
            <a:ext cx="4994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Lora" pitchFamily="2" charset="0"/>
                <a:ea typeface="Aptos Display" pitchFamily="34" charset="-122"/>
                <a:cs typeface="Aptos Display" pitchFamily="34" charset="-120"/>
              </a:rPr>
              <a:t>Problem: </a:t>
            </a:r>
          </a:p>
          <a:p>
            <a:pPr algn="ctr"/>
            <a:r>
              <a:rPr lang="en-US" sz="2400" dirty="0">
                <a:latin typeface="Lora" pitchFamily="2" charset="0"/>
                <a:ea typeface="Aptos Display" pitchFamily="34" charset="-122"/>
                <a:cs typeface="Aptos Display" pitchFamily="34" charset="-120"/>
              </a:rPr>
              <a:t>Fragmented heritage </a:t>
            </a:r>
          </a:p>
          <a:p>
            <a:pPr algn="ctr"/>
            <a:r>
              <a:rPr lang="en-US" sz="2400" dirty="0">
                <a:latin typeface="Lora" pitchFamily="2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2400" dirty="0">
              <a:latin typeface="Lora" pitchFamily="2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DB13BCC-E9D2-A05D-1372-3C870C32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94" y="440119"/>
            <a:ext cx="2556000" cy="2556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82E6C50-EA38-9CC6-2293-B99F658BC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28613">
            <a:off x="9343953" y="848880"/>
            <a:ext cx="1723838" cy="1818554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1540000" algn="t" rotWithShape="0">
              <a:schemeClr val="bg1">
                <a:lumMod val="50000"/>
                <a:alpha val="70000"/>
              </a:scheme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83F68DF-7662-0078-4822-77F882B8F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08483">
            <a:off x="833651" y="3640587"/>
            <a:ext cx="1800000" cy="2400000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1540000" algn="tr" rotWithShape="0">
              <a:schemeClr val="bg1">
                <a:lumMod val="50000"/>
                <a:alpha val="40000"/>
              </a:schemeClr>
            </a:outerShdw>
          </a:effec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013F6EF-C9F2-614C-D346-0D28ED9DE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194" y="3638454"/>
            <a:ext cx="1800000" cy="2400000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1540000" algn="tl" rotWithShape="0">
              <a:schemeClr val="bg1">
                <a:lumMod val="50000"/>
                <a:alpha val="60000"/>
              </a:schemeClr>
            </a:outerShdw>
          </a:effectLst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F1D9E859-1A2E-CEAF-F001-E87BAEAC36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30"/>
          <a:stretch>
            <a:fillRect/>
          </a:stretch>
        </p:blipFill>
        <p:spPr>
          <a:xfrm>
            <a:off x="7653944" y="3326097"/>
            <a:ext cx="4032000" cy="3024714"/>
          </a:xfrm>
          <a:prstGeom prst="rect">
            <a:avLst/>
          </a:prstGeom>
          <a:effectLst>
            <a:softEdge rad="0"/>
          </a:effectLst>
        </p:spPr>
      </p:pic>
      <p:sp>
        <p:nvSpPr>
          <p:cNvPr id="20" name="Text 3">
            <a:extLst>
              <a:ext uri="{FF2B5EF4-FFF2-40B4-BE49-F238E27FC236}">
                <a16:creationId xmlns:a16="http://schemas.microsoft.com/office/drawing/2014/main" id="{A249CCD0-3D87-450C-7A9C-CB630508EA51}"/>
              </a:ext>
            </a:extLst>
          </p:cNvPr>
          <p:cNvSpPr txBox="1"/>
          <p:nvPr/>
        </p:nvSpPr>
        <p:spPr>
          <a:xfrm>
            <a:off x="662078" y="1438117"/>
            <a:ext cx="167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MUSEUM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</a:t>
            </a:r>
            <a:endParaRPr lang="en-US" sz="16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678416BB-2F1A-A8F7-1BEB-82270CC4135E}"/>
              </a:ext>
            </a:extLst>
          </p:cNvPr>
          <p:cNvSpPr txBox="1"/>
          <p:nvPr/>
        </p:nvSpPr>
        <p:spPr>
          <a:xfrm>
            <a:off x="7491037" y="798037"/>
            <a:ext cx="1889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&amp;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CONSERVATION REPORTS</a:t>
            </a:r>
            <a:endParaRPr lang="en-US" sz="16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94F5C8F8-F3D7-3226-53ED-B1158D7BE546}"/>
              </a:ext>
            </a:extLst>
          </p:cNvPr>
          <p:cNvSpPr txBox="1"/>
          <p:nvPr/>
        </p:nvSpPr>
        <p:spPr>
          <a:xfrm>
            <a:off x="5582573" y="5697420"/>
            <a:ext cx="1908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C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ARCHAEOLOGICAL &amp; GEOSPATIAL DATA</a:t>
            </a:r>
            <a:endParaRPr lang="en-US" sz="16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07D452E-C0B9-296C-C3EC-AA1523A9B88D}"/>
              </a:ext>
            </a:extLst>
          </p:cNvPr>
          <p:cNvSpPr txBox="1"/>
          <p:nvPr/>
        </p:nvSpPr>
        <p:spPr>
          <a:xfrm>
            <a:off x="3224194" y="4703711"/>
            <a:ext cx="1889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ptos" pitchFamily="34" charset="0"/>
              </a:rPr>
              <a:t>SCIENTIFIC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1C2B3A"/>
                </a:solidFill>
                <a:latin typeface="Aptos" pitchFamily="34" charset="0"/>
              </a:rPr>
              <a:t>PUBLICATIONS</a:t>
            </a:r>
            <a:endParaRPr lang="en-US" sz="1600" dirty="0"/>
          </a:p>
        </p:txBody>
      </p:sp>
      <p:cxnSp>
        <p:nvCxnSpPr>
          <p:cNvPr id="30" name="Conector: Curvo 29">
            <a:extLst>
              <a:ext uri="{FF2B5EF4-FFF2-40B4-BE49-F238E27FC236}">
                <a16:creationId xmlns:a16="http://schemas.microsoft.com/office/drawing/2014/main" id="{A1E0475A-7E8F-C3A0-0D99-71D4CFDE5608}"/>
              </a:ext>
            </a:extLst>
          </p:cNvPr>
          <p:cNvCxnSpPr>
            <a:cxnSpLocks/>
          </p:cNvCxnSpPr>
          <p:nvPr/>
        </p:nvCxnSpPr>
        <p:spPr>
          <a:xfrm rot="10800000">
            <a:off x="4039465" y="1718119"/>
            <a:ext cx="1191296" cy="803562"/>
          </a:xfrm>
          <a:prstGeom prst="curvedConnector3">
            <a:avLst>
              <a:gd name="adj1" fmla="val 29367"/>
            </a:avLst>
          </a:prstGeom>
          <a:ln w="15875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2107DF50-0CBC-B5D8-8D66-1F4F10684F65}"/>
              </a:ext>
            </a:extLst>
          </p:cNvPr>
          <p:cNvCxnSpPr/>
          <p:nvPr/>
        </p:nvCxnSpPr>
        <p:spPr>
          <a:xfrm flipV="1">
            <a:off x="7885471" y="1887794"/>
            <a:ext cx="1148678" cy="776748"/>
          </a:xfrm>
          <a:prstGeom prst="curvedConnector3">
            <a:avLst/>
          </a:prstGeom>
          <a:ln w="15875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Curvo 38">
            <a:extLst>
              <a:ext uri="{FF2B5EF4-FFF2-40B4-BE49-F238E27FC236}">
                <a16:creationId xmlns:a16="http://schemas.microsoft.com/office/drawing/2014/main" id="{1A20DCA0-6F67-1374-1BD1-CEE714A4706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08536" y="3326094"/>
            <a:ext cx="2003534" cy="1028811"/>
          </a:xfrm>
          <a:prstGeom prst="curvedConnector3">
            <a:avLst>
              <a:gd name="adj1" fmla="val 52944"/>
            </a:avLst>
          </a:prstGeom>
          <a:ln w="15875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Curvo 42">
            <a:extLst>
              <a:ext uri="{FF2B5EF4-FFF2-40B4-BE49-F238E27FC236}">
                <a16:creationId xmlns:a16="http://schemas.microsoft.com/office/drawing/2014/main" id="{559EE724-40C8-1A47-65F4-2F211EECE1E8}"/>
              </a:ext>
            </a:extLst>
          </p:cNvPr>
          <p:cNvCxnSpPr>
            <a:cxnSpLocks/>
          </p:cNvCxnSpPr>
          <p:nvPr/>
        </p:nvCxnSpPr>
        <p:spPr>
          <a:xfrm>
            <a:off x="6666274" y="3504213"/>
            <a:ext cx="1219196" cy="1028458"/>
          </a:xfrm>
          <a:prstGeom prst="curvedConnector3">
            <a:avLst>
              <a:gd name="adj1" fmla="val 806"/>
            </a:avLst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32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3A46710-F103-5AA3-C73B-81FAB829C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01" b="2232"/>
          <a:stretch>
            <a:fillRect/>
          </a:stretch>
        </p:blipFill>
        <p:spPr>
          <a:xfrm>
            <a:off x="1286697" y="0"/>
            <a:ext cx="10905303" cy="6857994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1D4AEFFC-D2C0-40D4-207D-7BC0A38539B1}"/>
              </a:ext>
            </a:extLst>
          </p:cNvPr>
          <p:cNvSpPr txBox="1">
            <a:spLocks/>
          </p:cNvSpPr>
          <p:nvPr/>
        </p:nvSpPr>
        <p:spPr>
          <a:xfrm>
            <a:off x="851720" y="3527524"/>
            <a:ext cx="280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Lora" pitchFamily="2" charset="0"/>
                <a:ea typeface="Aptos Display" pitchFamily="34" charset="-122"/>
                <a:cs typeface="Aptos Display" pitchFamily="34" charset="-120"/>
              </a:rPr>
              <a:t>Spatial and temporal scope:</a:t>
            </a:r>
            <a:br>
              <a:rPr lang="en-US" sz="2400" dirty="0">
                <a:latin typeface="Lora" pitchFamily="2" charset="0"/>
                <a:ea typeface="Aptos Display" pitchFamily="34" charset="-122"/>
                <a:cs typeface="Aptos Display" pitchFamily="34" charset="-120"/>
              </a:rPr>
            </a:br>
            <a:endParaRPr lang="en-US" sz="2400" dirty="0">
              <a:latin typeface="Lora" pitchFamily="2" charset="0"/>
            </a:endParaRPr>
          </a:p>
        </p:txBody>
      </p:sp>
      <p:sp>
        <p:nvSpPr>
          <p:cNvPr id="17" name="Text 33">
            <a:extLst>
              <a:ext uri="{FF2B5EF4-FFF2-40B4-BE49-F238E27FC236}">
                <a16:creationId xmlns:a16="http://schemas.microsoft.com/office/drawing/2014/main" id="{8E9707D2-6165-E9DA-6C7D-8DFE9152FE80}"/>
              </a:ext>
            </a:extLst>
          </p:cNvPr>
          <p:cNvSpPr txBox="1"/>
          <p:nvPr/>
        </p:nvSpPr>
        <p:spPr>
          <a:xfrm>
            <a:off x="642445" y="4703769"/>
            <a:ext cx="3226549" cy="1195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23282C"/>
                </a:solidFill>
                <a:latin typeface="Lora" pitchFamily="2" charset="0"/>
              </a:rPr>
              <a:t>4 Unesco heritage 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3282C"/>
              </a:solidFill>
              <a:latin typeface="Lora" pitchFamily="2" charset="0"/>
            </a:endParaRPr>
          </a:p>
          <a:p>
            <a:r>
              <a:rPr lang="en-US" sz="1600" dirty="0">
                <a:solidFill>
                  <a:srgbClr val="23282C"/>
                </a:solidFill>
                <a:latin typeface="Lora" pitchFamily="2" charset="0"/>
              </a:rPr>
              <a:t>Pre-Angkorian and Angkorian periods (7th to 15th centuries CE)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7C6C5EB2-012B-70A4-F998-63B018411BC2}"/>
              </a:ext>
            </a:extLst>
          </p:cNvPr>
          <p:cNvCxnSpPr>
            <a:cxnSpLocks/>
          </p:cNvCxnSpPr>
          <p:nvPr/>
        </p:nvCxnSpPr>
        <p:spPr>
          <a:xfrm>
            <a:off x="851720" y="4259044"/>
            <a:ext cx="2808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1A63C2-E9B2-4EA9-4AC6-CC00E8379976}"/>
              </a:ext>
            </a:extLst>
          </p:cNvPr>
          <p:cNvSpPr txBox="1"/>
          <p:nvPr/>
        </p:nvSpPr>
        <p:spPr>
          <a:xfrm>
            <a:off x="8563897" y="6039577"/>
            <a:ext cx="3529780" cy="233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Source: Data from UNESCO; ESRI Satellite / Created by the author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167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ACD45450-209E-1047-4EE2-5BADA3EE2BB8}"/>
              </a:ext>
            </a:extLst>
          </p:cNvPr>
          <p:cNvSpPr txBox="1">
            <a:spLocks/>
          </p:cNvSpPr>
          <p:nvPr/>
        </p:nvSpPr>
        <p:spPr>
          <a:xfrm>
            <a:off x="594360" y="421804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latin typeface="Lora" pitchFamily="2" charset="0"/>
                <a:ea typeface="Aptos Display" pitchFamily="34" charset="-122"/>
                <a:cs typeface="Aptos Display" pitchFamily="34" charset="-120"/>
              </a:rPr>
              <a:t>Research Question &amp; Objectives</a:t>
            </a:r>
            <a:endParaRPr lang="en-US" sz="3000" dirty="0">
              <a:latin typeface="Lora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328E019-3CF1-AB6C-01D2-44A599B20505}"/>
              </a:ext>
            </a:extLst>
          </p:cNvPr>
          <p:cNvSpPr txBox="1"/>
          <p:nvPr/>
        </p:nvSpPr>
        <p:spPr>
          <a:xfrm>
            <a:off x="868680" y="132588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2B3A"/>
                </a:solidFill>
                <a:latin typeface="Lora" pitchFamily="2" charset="0"/>
                <a:ea typeface="Aptos" pitchFamily="34" charset="-122"/>
                <a:cs typeface="Aptos" pitchFamily="34" charset="-120"/>
              </a:rPr>
              <a:t>How can fragmented data be integrated to provide a comprehensive digital representation of the Khmer cultural heritage domain within the Semantic Web?</a:t>
            </a:r>
            <a:endParaRPr lang="en-US" sz="2000" dirty="0">
              <a:latin typeface="Lora" pitchFamily="2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7D544621-B42E-7E5A-61E8-0272D57DDA94}"/>
              </a:ext>
            </a:extLst>
          </p:cNvPr>
          <p:cNvSpPr/>
          <p:nvPr/>
        </p:nvSpPr>
        <p:spPr>
          <a:xfrm>
            <a:off x="1722120" y="2549996"/>
            <a:ext cx="8844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A2E9FF5C-1C3F-B396-9B8A-67F9914B067D}"/>
              </a:ext>
            </a:extLst>
          </p:cNvPr>
          <p:cNvSpPr/>
          <p:nvPr/>
        </p:nvSpPr>
        <p:spPr>
          <a:xfrm>
            <a:off x="1996440" y="2641436"/>
            <a:ext cx="438912" cy="438912"/>
          </a:xfrm>
          <a:prstGeom prst="ellipse">
            <a:avLst/>
          </a:prstGeom>
          <a:solidFill>
            <a:srgbClr val="00B0F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D7564E23-82FD-EEC9-75F7-032742B68239}"/>
              </a:ext>
            </a:extLst>
          </p:cNvPr>
          <p:cNvSpPr txBox="1"/>
          <p:nvPr/>
        </p:nvSpPr>
        <p:spPr>
          <a:xfrm>
            <a:off x="1994916" y="26414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O1</a:t>
            </a:r>
            <a:endParaRPr lang="en-US" sz="13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5792396B-E365-F656-4E45-35D9C741B469}"/>
              </a:ext>
            </a:extLst>
          </p:cNvPr>
          <p:cNvSpPr txBox="1"/>
          <p:nvPr/>
        </p:nvSpPr>
        <p:spPr>
          <a:xfrm>
            <a:off x="2682240" y="2549996"/>
            <a:ext cx="7513320" cy="62179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and harmonize heterogeneous data.</a:t>
            </a:r>
            <a:endParaRPr lang="en-US" sz="18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8D0AC757-10BE-D509-AC1A-B067BCB6757F}"/>
              </a:ext>
            </a:extLst>
          </p:cNvPr>
          <p:cNvSpPr/>
          <p:nvPr/>
        </p:nvSpPr>
        <p:spPr>
          <a:xfrm>
            <a:off x="1722120" y="3281516"/>
            <a:ext cx="8844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31FF2392-CEDD-DCE3-1D3C-6023321CD414}"/>
              </a:ext>
            </a:extLst>
          </p:cNvPr>
          <p:cNvSpPr/>
          <p:nvPr/>
        </p:nvSpPr>
        <p:spPr>
          <a:xfrm>
            <a:off x="1996440" y="3372956"/>
            <a:ext cx="438912" cy="438912"/>
          </a:xfrm>
          <a:prstGeom prst="ellipse">
            <a:avLst/>
          </a:prstGeom>
          <a:solidFill>
            <a:srgbClr val="00B0F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A6FF8114-1FB6-A7ED-7823-50D8CEBFB018}"/>
              </a:ext>
            </a:extLst>
          </p:cNvPr>
          <p:cNvSpPr txBox="1"/>
          <p:nvPr/>
        </p:nvSpPr>
        <p:spPr>
          <a:xfrm>
            <a:off x="1994916" y="33729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O2</a:t>
            </a:r>
            <a:endParaRPr lang="en-US" sz="13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B017ADB0-B833-0D55-BA2E-9FCB7F7F4353}"/>
              </a:ext>
            </a:extLst>
          </p:cNvPr>
          <p:cNvSpPr txBox="1"/>
          <p:nvPr/>
        </p:nvSpPr>
        <p:spPr>
          <a:xfrm>
            <a:off x="2682240" y="3281516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metadata practices through established semantic models.</a:t>
            </a:r>
            <a:endParaRPr lang="en-US" sz="18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71104243-F78C-B169-2ED2-9FA01C8903F4}"/>
              </a:ext>
            </a:extLst>
          </p:cNvPr>
          <p:cNvSpPr/>
          <p:nvPr/>
        </p:nvSpPr>
        <p:spPr>
          <a:xfrm>
            <a:off x="1722120" y="4013036"/>
            <a:ext cx="8844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20C42C77-55D9-316F-F99C-CF8082342358}"/>
              </a:ext>
            </a:extLst>
          </p:cNvPr>
          <p:cNvSpPr/>
          <p:nvPr/>
        </p:nvSpPr>
        <p:spPr>
          <a:xfrm>
            <a:off x="1996440" y="4104476"/>
            <a:ext cx="438912" cy="438912"/>
          </a:xfrm>
          <a:prstGeom prst="ellipse">
            <a:avLst/>
          </a:prstGeom>
          <a:solidFill>
            <a:srgbClr val="00B0F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74382A1A-C13C-2D83-936A-597FFAA4DAE7}"/>
              </a:ext>
            </a:extLst>
          </p:cNvPr>
          <p:cNvSpPr txBox="1"/>
          <p:nvPr/>
        </p:nvSpPr>
        <p:spPr>
          <a:xfrm>
            <a:off x="1982724" y="41044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O3</a:t>
            </a:r>
            <a:endParaRPr lang="en-US" sz="13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42CD2FAC-F5A6-E184-A88E-E47DD9882B76}"/>
              </a:ext>
            </a:extLst>
          </p:cNvPr>
          <p:cNvSpPr txBox="1"/>
          <p:nvPr/>
        </p:nvSpPr>
        <p:spPr>
          <a:xfrm>
            <a:off x="2682240" y="4013036"/>
            <a:ext cx="7601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temporal, geographical and terminological variation.</a:t>
            </a:r>
            <a:endParaRPr lang="en-US" sz="180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17A3B0B0-32FB-A4F8-81C3-3FE102B3F1A7}"/>
              </a:ext>
            </a:extLst>
          </p:cNvPr>
          <p:cNvSpPr/>
          <p:nvPr/>
        </p:nvSpPr>
        <p:spPr>
          <a:xfrm>
            <a:off x="1722120" y="4744556"/>
            <a:ext cx="8844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074C6E1B-5874-F377-3FDB-EBE8B387DB05}"/>
              </a:ext>
            </a:extLst>
          </p:cNvPr>
          <p:cNvSpPr/>
          <p:nvPr/>
        </p:nvSpPr>
        <p:spPr>
          <a:xfrm>
            <a:off x="1996440" y="4835996"/>
            <a:ext cx="438912" cy="438912"/>
          </a:xfrm>
          <a:prstGeom prst="ellipse">
            <a:avLst/>
          </a:prstGeom>
          <a:solidFill>
            <a:srgbClr val="00B0F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BEECC652-5D30-0122-EC12-F527BE14A069}"/>
              </a:ext>
            </a:extLst>
          </p:cNvPr>
          <p:cNvSpPr txBox="1"/>
          <p:nvPr/>
        </p:nvSpPr>
        <p:spPr>
          <a:xfrm>
            <a:off x="1994916" y="48359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O4</a:t>
            </a:r>
            <a:endParaRPr lang="en-US" sz="130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4F8528C9-7C6E-F86F-496E-CD3A2AE18192}"/>
              </a:ext>
            </a:extLst>
          </p:cNvPr>
          <p:cNvSpPr txBox="1"/>
          <p:nvPr/>
        </p:nvSpPr>
        <p:spPr>
          <a:xfrm>
            <a:off x="2682240" y="4744556"/>
            <a:ext cx="7601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328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relationships and retrieval / visualization methods.</a:t>
            </a:r>
            <a:endParaRPr lang="en-US" sz="1800" dirty="0"/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1D11F0AB-F5FA-A6B7-A1F1-CA4309594DF1}"/>
              </a:ext>
            </a:extLst>
          </p:cNvPr>
          <p:cNvSpPr/>
          <p:nvPr/>
        </p:nvSpPr>
        <p:spPr>
          <a:xfrm>
            <a:off x="1722120" y="5476076"/>
            <a:ext cx="8844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76ED6375-1611-8709-190C-2F11E3033BF0}"/>
              </a:ext>
            </a:extLst>
          </p:cNvPr>
          <p:cNvSpPr/>
          <p:nvPr/>
        </p:nvSpPr>
        <p:spPr>
          <a:xfrm>
            <a:off x="1996440" y="5567516"/>
            <a:ext cx="438912" cy="438912"/>
          </a:xfrm>
          <a:prstGeom prst="ellipse">
            <a:avLst/>
          </a:prstGeom>
          <a:solidFill>
            <a:srgbClr val="00B0F0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3F3C5E0C-4181-B688-264C-B423B01C6331}"/>
              </a:ext>
            </a:extLst>
          </p:cNvPr>
          <p:cNvSpPr txBox="1"/>
          <p:nvPr/>
        </p:nvSpPr>
        <p:spPr>
          <a:xfrm>
            <a:off x="1982724" y="55675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O5</a:t>
            </a:r>
            <a:endParaRPr lang="en-US" sz="1300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D2FA9E63-1A85-3EB0-E441-7AC4CFD7DDC4}"/>
              </a:ext>
            </a:extLst>
          </p:cNvPr>
          <p:cNvSpPr txBox="1"/>
          <p:nvPr/>
        </p:nvSpPr>
        <p:spPr>
          <a:xfrm>
            <a:off x="2682240" y="5476076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Contextualize the geographical displacement of objects over time.</a:t>
            </a:r>
            <a:endParaRPr lang="en-US" sz="18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0201492-2DE2-0751-666D-0CADB6119831}"/>
              </a:ext>
            </a:extLst>
          </p:cNvPr>
          <p:cNvCxnSpPr/>
          <p:nvPr/>
        </p:nvCxnSpPr>
        <p:spPr>
          <a:xfrm>
            <a:off x="1221515" y="792000"/>
            <a:ext cx="1800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73415DB-DC71-A9C5-9FBD-98E1861C660C}"/>
              </a:ext>
            </a:extLst>
          </p:cNvPr>
          <p:cNvCxnSpPr/>
          <p:nvPr/>
        </p:nvCxnSpPr>
        <p:spPr>
          <a:xfrm>
            <a:off x="9161555" y="792000"/>
            <a:ext cx="1800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013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">
            <a:extLst>
              <a:ext uri="{FF2B5EF4-FFF2-40B4-BE49-F238E27FC236}">
                <a16:creationId xmlns:a16="http://schemas.microsoft.com/office/drawing/2014/main" id="{F8C0A3F5-65A7-9406-C2E8-FEBA1D196708}"/>
              </a:ext>
            </a:extLst>
          </p:cNvPr>
          <p:cNvSpPr/>
          <p:nvPr/>
        </p:nvSpPr>
        <p:spPr>
          <a:xfrm>
            <a:off x="1334079" y="1775510"/>
            <a:ext cx="1481328" cy="1280160"/>
          </a:xfrm>
          <a:prstGeom prst="roundRect">
            <a:avLst>
              <a:gd name="adj" fmla="val 5714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3B8E21A-8E2C-C1EF-7763-D4BB9B338626}"/>
              </a:ext>
            </a:extLst>
          </p:cNvPr>
          <p:cNvSpPr txBox="1"/>
          <p:nvPr/>
        </p:nvSpPr>
        <p:spPr>
          <a:xfrm>
            <a:off x="1375227" y="177551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Aptos" pitchFamily="34" charset="0"/>
                <a:ea typeface="Aptos" pitchFamily="34" charset="-122"/>
                <a:cs typeface="Aptos" pitchFamily="34" charset="-120"/>
              </a:rPr>
              <a:t>CROSS-INSTITUTIONAL DATASETS</a:t>
            </a:r>
            <a:endParaRPr lang="en-US" sz="13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913BFEB2-E09F-CC20-0FF1-DD6C244F8CD8}"/>
              </a:ext>
            </a:extLst>
          </p:cNvPr>
          <p:cNvSpPr/>
          <p:nvPr/>
        </p:nvSpPr>
        <p:spPr>
          <a:xfrm>
            <a:off x="2829123" y="2415590"/>
            <a:ext cx="100584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1C82EC97-5367-CFFE-F0D0-50236048DD61}"/>
              </a:ext>
            </a:extLst>
          </p:cNvPr>
          <p:cNvSpPr/>
          <p:nvPr/>
        </p:nvSpPr>
        <p:spPr>
          <a:xfrm>
            <a:off x="2943423" y="1775510"/>
            <a:ext cx="1481328" cy="1280160"/>
          </a:xfrm>
          <a:prstGeom prst="roundRect">
            <a:avLst>
              <a:gd name="adj" fmla="val 5714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157FC8B8-974C-8AD9-499C-4E16581614F3}"/>
              </a:ext>
            </a:extLst>
          </p:cNvPr>
          <p:cNvSpPr txBox="1"/>
          <p:nvPr/>
        </p:nvSpPr>
        <p:spPr>
          <a:xfrm>
            <a:off x="2998287" y="177551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Aptos" pitchFamily="34" charset="0"/>
                <a:ea typeface="Aptos" pitchFamily="34" charset="-122"/>
                <a:cs typeface="Aptos" pitchFamily="34" charset="-120"/>
              </a:rPr>
              <a:t>AGGREGATION </a:t>
            </a:r>
          </a:p>
          <a:p>
            <a:pPr marL="0" indent="0" algn="ctr">
              <a:buNone/>
            </a:pPr>
            <a:r>
              <a:rPr lang="en-US" sz="1300" dirty="0">
                <a:latin typeface="Aptos" pitchFamily="34" charset="0"/>
                <a:ea typeface="Aptos" pitchFamily="34" charset="-122"/>
                <a:cs typeface="Aptos" pitchFamily="34" charset="-120"/>
              </a:rPr>
              <a:t>&amp; </a:t>
            </a:r>
          </a:p>
          <a:p>
            <a:pPr algn="ctr"/>
            <a:r>
              <a:rPr lang="en-US" sz="1300" dirty="0">
                <a:latin typeface="Aptos" pitchFamily="34" charset="0"/>
                <a:ea typeface="Aptos" pitchFamily="34" charset="-122"/>
                <a:cs typeface="Aptos" pitchFamily="34" charset="-120"/>
              </a:rPr>
              <a:t>RECONCILIATION</a:t>
            </a:r>
            <a:endParaRPr lang="en-US" sz="13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F6AF9474-AABB-2E39-F8B8-5F18437254A0}"/>
              </a:ext>
            </a:extLst>
          </p:cNvPr>
          <p:cNvSpPr/>
          <p:nvPr/>
        </p:nvSpPr>
        <p:spPr>
          <a:xfrm>
            <a:off x="4438467" y="2415590"/>
            <a:ext cx="100584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5C865276-D783-4CEB-56D2-FC3AF305DA76}"/>
              </a:ext>
            </a:extLst>
          </p:cNvPr>
          <p:cNvSpPr/>
          <p:nvPr/>
        </p:nvSpPr>
        <p:spPr>
          <a:xfrm>
            <a:off x="4552767" y="1775510"/>
            <a:ext cx="1481328" cy="1280160"/>
          </a:xfrm>
          <a:prstGeom prst="roundRect">
            <a:avLst>
              <a:gd name="adj" fmla="val 5714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2A342DEA-0E70-16B3-06E1-199F29033F25}"/>
              </a:ext>
            </a:extLst>
          </p:cNvPr>
          <p:cNvSpPr txBox="1"/>
          <p:nvPr/>
        </p:nvSpPr>
        <p:spPr>
          <a:xfrm>
            <a:off x="4580199" y="177551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latin typeface="Aptos" pitchFamily="34" charset="0"/>
                <a:ea typeface="Aptos" pitchFamily="34" charset="-122"/>
                <a:cs typeface="Aptos" pitchFamily="34" charset="-120"/>
              </a:rPr>
              <a:t>SEMANTIC MAPPING</a:t>
            </a:r>
            <a:endParaRPr lang="en-US" sz="13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B671C0C0-7EF9-B4F4-51EF-155B30955440}"/>
              </a:ext>
            </a:extLst>
          </p:cNvPr>
          <p:cNvSpPr/>
          <p:nvPr/>
        </p:nvSpPr>
        <p:spPr>
          <a:xfrm>
            <a:off x="6047811" y="2415590"/>
            <a:ext cx="100584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6A3BAF47-29A9-E350-D2A7-1F4FFC5F12C7}"/>
              </a:ext>
            </a:extLst>
          </p:cNvPr>
          <p:cNvSpPr/>
          <p:nvPr/>
        </p:nvSpPr>
        <p:spPr>
          <a:xfrm>
            <a:off x="6162111" y="1775510"/>
            <a:ext cx="1481328" cy="1280160"/>
          </a:xfrm>
          <a:prstGeom prst="roundRect">
            <a:avLst>
              <a:gd name="adj" fmla="val 5714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F549B88F-942A-151C-972A-B5A0157D2F03}"/>
              </a:ext>
            </a:extLst>
          </p:cNvPr>
          <p:cNvSpPr txBox="1"/>
          <p:nvPr/>
        </p:nvSpPr>
        <p:spPr>
          <a:xfrm>
            <a:off x="6203259" y="177551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Aptos" pitchFamily="34" charset="0"/>
                <a:ea typeface="Aptos" pitchFamily="34" charset="-122"/>
                <a:cs typeface="Aptos" pitchFamily="34" charset="-120"/>
              </a:rPr>
              <a:t>ONTOLOGY MODELING</a:t>
            </a:r>
            <a:endParaRPr lang="en-US" sz="13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17D9D832-6B63-C917-2835-6E86E4E5E5CB}"/>
              </a:ext>
            </a:extLst>
          </p:cNvPr>
          <p:cNvSpPr/>
          <p:nvPr/>
        </p:nvSpPr>
        <p:spPr>
          <a:xfrm>
            <a:off x="7657155" y="2415590"/>
            <a:ext cx="100584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FB3B7E86-6301-1C55-B30F-1CA8E4D81816}"/>
              </a:ext>
            </a:extLst>
          </p:cNvPr>
          <p:cNvSpPr/>
          <p:nvPr/>
        </p:nvSpPr>
        <p:spPr>
          <a:xfrm>
            <a:off x="7771455" y="1775510"/>
            <a:ext cx="1481328" cy="1280160"/>
          </a:xfrm>
          <a:prstGeom prst="roundRect">
            <a:avLst>
              <a:gd name="adj" fmla="val 5714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AEF5E0A0-8ACA-D34E-CF47-9E82BC82CE22}"/>
              </a:ext>
            </a:extLst>
          </p:cNvPr>
          <p:cNvSpPr txBox="1"/>
          <p:nvPr/>
        </p:nvSpPr>
        <p:spPr>
          <a:xfrm>
            <a:off x="7798887" y="177551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RDF </a:t>
            </a:r>
          </a:p>
          <a:p>
            <a:pPr marL="0" indent="0" algn="ctr">
              <a:buNone/>
            </a:pPr>
            <a:r>
              <a:rPr lang="en-US" sz="13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C5D79A5A-5DD0-0E7F-7EC7-8913E973AA31}"/>
              </a:ext>
            </a:extLst>
          </p:cNvPr>
          <p:cNvSpPr/>
          <p:nvPr/>
        </p:nvSpPr>
        <p:spPr>
          <a:xfrm>
            <a:off x="9266499" y="2415590"/>
            <a:ext cx="100584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C2C0F017-88B5-6459-E364-A63D24F63A34}"/>
              </a:ext>
            </a:extLst>
          </p:cNvPr>
          <p:cNvSpPr/>
          <p:nvPr/>
        </p:nvSpPr>
        <p:spPr>
          <a:xfrm>
            <a:off x="9380799" y="1775510"/>
            <a:ext cx="1481328" cy="1280160"/>
          </a:xfrm>
          <a:prstGeom prst="roundRect">
            <a:avLst>
              <a:gd name="adj" fmla="val 5714"/>
            </a:avLst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85D5EBC8-2DF0-72D6-92BE-196DF2034F07}"/>
              </a:ext>
            </a:extLst>
          </p:cNvPr>
          <p:cNvSpPr txBox="1"/>
          <p:nvPr/>
        </p:nvSpPr>
        <p:spPr>
          <a:xfrm>
            <a:off x="9408231" y="1775510"/>
            <a:ext cx="14264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Aptos" pitchFamily="34" charset="0"/>
                <a:ea typeface="Aptos" pitchFamily="34" charset="-122"/>
                <a:cs typeface="Aptos" pitchFamily="34" charset="-120"/>
              </a:rPr>
              <a:t>VALIDATION </a:t>
            </a:r>
          </a:p>
          <a:p>
            <a:pPr marL="0" indent="0" algn="ctr">
              <a:buNone/>
            </a:pPr>
            <a:r>
              <a:rPr lang="en-US" sz="1300" dirty="0">
                <a:latin typeface="Aptos" pitchFamily="34" charset="0"/>
                <a:ea typeface="Aptos" pitchFamily="34" charset="-122"/>
                <a:cs typeface="Aptos" pitchFamily="34" charset="-120"/>
              </a:rPr>
              <a:t>&amp; </a:t>
            </a:r>
          </a:p>
          <a:p>
            <a:pPr marL="0" indent="0" algn="ctr">
              <a:buNone/>
            </a:pPr>
            <a:r>
              <a:rPr lang="en-US" sz="1300" dirty="0"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A3E76BE3-7B5D-D030-A34C-CDC04668C72E}"/>
              </a:ext>
            </a:extLst>
          </p:cNvPr>
          <p:cNvSpPr txBox="1">
            <a:spLocks/>
          </p:cNvSpPr>
          <p:nvPr/>
        </p:nvSpPr>
        <p:spPr>
          <a:xfrm>
            <a:off x="594360" y="421804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latin typeface="Lora" pitchFamily="2" charset="0"/>
              </a:rPr>
              <a:t>Methodology</a:t>
            </a:r>
          </a:p>
        </p:txBody>
      </p:sp>
      <p:sp>
        <p:nvSpPr>
          <p:cNvPr id="51" name="Text 0">
            <a:extLst>
              <a:ext uri="{FF2B5EF4-FFF2-40B4-BE49-F238E27FC236}">
                <a16:creationId xmlns:a16="http://schemas.microsoft.com/office/drawing/2014/main" id="{73002AA5-7C54-F41E-EACA-ADE80D26967E}"/>
              </a:ext>
            </a:extLst>
          </p:cNvPr>
          <p:cNvSpPr txBox="1">
            <a:spLocks/>
          </p:cNvSpPr>
          <p:nvPr/>
        </p:nvSpPr>
        <p:spPr>
          <a:xfrm>
            <a:off x="1273119" y="1153324"/>
            <a:ext cx="17391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rgbClr val="1C2B3A"/>
                </a:solidFill>
                <a:latin typeface="Lora" pitchFamily="2" charset="0"/>
                <a:ea typeface="Aptos Display" pitchFamily="34" charset="-122"/>
                <a:cs typeface="Aptos Display" pitchFamily="34" charset="-120"/>
              </a:rPr>
              <a:t>Pipeline:</a:t>
            </a:r>
            <a:endParaRPr lang="en-US" sz="2000" dirty="0">
              <a:latin typeface="Lora" pitchFamily="2" charset="0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2B74A7D8-1936-3470-87DA-951895DCB1BB}"/>
              </a:ext>
            </a:extLst>
          </p:cNvPr>
          <p:cNvSpPr txBox="1"/>
          <p:nvPr/>
        </p:nvSpPr>
        <p:spPr>
          <a:xfrm>
            <a:off x="4546671" y="3482291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100" dirty="0">
                <a:latin typeface="Aptos" pitchFamily="34" charset="0"/>
                <a:ea typeface="Aptos" pitchFamily="34" charset="-122"/>
                <a:cs typeface="Aptos" pitchFamily="34" charset="-120"/>
              </a:rPr>
              <a:t>MAIN SEMANTIC FRAMEWORK</a:t>
            </a:r>
            <a:endParaRPr lang="en-US" sz="1300" dirty="0"/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E4C35ACE-F939-1CED-432C-0DA9040EFC82}"/>
              </a:ext>
            </a:extLst>
          </p:cNvPr>
          <p:cNvSpPr txBox="1"/>
          <p:nvPr/>
        </p:nvSpPr>
        <p:spPr>
          <a:xfrm>
            <a:off x="4897625" y="3753020"/>
            <a:ext cx="2379619" cy="553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0F0"/>
                </a:solidFill>
                <a:latin typeface="Lora" pitchFamily="2" charset="0"/>
                <a:ea typeface="Aptos" pitchFamily="34" charset="-122"/>
                <a:cs typeface="Aptos" pitchFamily="34" charset="-120"/>
              </a:rPr>
              <a:t>CIDOC CRM</a:t>
            </a:r>
            <a:endParaRPr lang="en-US" sz="2800" dirty="0">
              <a:solidFill>
                <a:srgbClr val="00B0F0"/>
              </a:solidFill>
              <a:latin typeface="Lora" pitchFamily="2" charset="0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8B8D9D8A-8E79-66F0-AFFD-3008F4E16B44}"/>
              </a:ext>
            </a:extLst>
          </p:cNvPr>
          <p:cNvSpPr txBox="1"/>
          <p:nvPr/>
        </p:nvSpPr>
        <p:spPr>
          <a:xfrm>
            <a:off x="4546671" y="4336687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100" dirty="0">
                <a:latin typeface="Aptos" pitchFamily="34" charset="0"/>
                <a:ea typeface="Aptos" pitchFamily="34" charset="-122"/>
                <a:cs typeface="Aptos" pitchFamily="34" charset="-120"/>
              </a:rPr>
              <a:t>COMPLEMENTARY MODELS</a:t>
            </a:r>
            <a:endParaRPr lang="en-US" sz="1300" dirty="0"/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8B53577C-65E1-375A-EFE2-51D925B74537}"/>
              </a:ext>
            </a:extLst>
          </p:cNvPr>
          <p:cNvSpPr txBox="1"/>
          <p:nvPr/>
        </p:nvSpPr>
        <p:spPr>
          <a:xfrm>
            <a:off x="4237433" y="4619198"/>
            <a:ext cx="3809731" cy="630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dirty="0">
                <a:solidFill>
                  <a:srgbClr val="23282C"/>
                </a:solidFill>
                <a:latin typeface="Lora" pitchFamily="2" charset="0"/>
                <a:ea typeface="Aptos" pitchFamily="34" charset="-122"/>
                <a:cs typeface="Aptos" pitchFamily="34" charset="-120"/>
              </a:rPr>
              <a:t>DCTerms • Bibo • GeoSPARQL  • FOAF • Schema • RDFS • SKOS</a:t>
            </a:r>
            <a:endParaRPr lang="en-US" dirty="0">
              <a:latin typeface="Lora" pitchFamily="2" charset="0"/>
            </a:endParaRPr>
          </a:p>
        </p:txBody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14B54431-E282-34A7-414D-B058193AD106}"/>
              </a:ext>
            </a:extLst>
          </p:cNvPr>
          <p:cNvSpPr txBox="1"/>
          <p:nvPr/>
        </p:nvSpPr>
        <p:spPr>
          <a:xfrm>
            <a:off x="8273195" y="3997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100" dirty="0"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300" b="1" dirty="0"/>
          </a:p>
        </p:txBody>
      </p:sp>
      <p:sp>
        <p:nvSpPr>
          <p:cNvPr id="63" name="Text 33">
            <a:extLst>
              <a:ext uri="{FF2B5EF4-FFF2-40B4-BE49-F238E27FC236}">
                <a16:creationId xmlns:a16="http://schemas.microsoft.com/office/drawing/2014/main" id="{8CBDD1DF-3369-6498-9E50-0C06A42C1B58}"/>
              </a:ext>
            </a:extLst>
          </p:cNvPr>
          <p:cNvSpPr txBox="1"/>
          <p:nvPr/>
        </p:nvSpPr>
        <p:spPr>
          <a:xfrm>
            <a:off x="8328059" y="4474335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3282C"/>
                </a:solidFill>
                <a:latin typeface="Lora" pitchFamily="2" charset="0"/>
                <a:ea typeface="Aptos" pitchFamily="34" charset="-122"/>
                <a:cs typeface="Aptos" pitchFamily="34" charset="-120"/>
              </a:rPr>
              <a:t>Protégé Reasoning + SHACL + Competency questions</a:t>
            </a:r>
            <a:endParaRPr lang="en-US" sz="1800" dirty="0">
              <a:latin typeface="Lora" pitchFamily="2" charset="0"/>
            </a:endParaRPr>
          </a:p>
        </p:txBody>
      </p:sp>
      <p:sp>
        <p:nvSpPr>
          <p:cNvPr id="3" name="Text 24">
            <a:extLst>
              <a:ext uri="{FF2B5EF4-FFF2-40B4-BE49-F238E27FC236}">
                <a16:creationId xmlns:a16="http://schemas.microsoft.com/office/drawing/2014/main" id="{5B6AFFC5-86EA-C92E-6FAA-B4AD73E26800}"/>
              </a:ext>
            </a:extLst>
          </p:cNvPr>
          <p:cNvSpPr txBox="1"/>
          <p:nvPr/>
        </p:nvSpPr>
        <p:spPr>
          <a:xfrm>
            <a:off x="837088" y="39460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100" dirty="0">
                <a:latin typeface="Aptos" pitchFamily="34" charset="0"/>
              </a:rPr>
              <a:t>DATASET COMPOSITION</a:t>
            </a:r>
            <a:endParaRPr lang="en-US" sz="1300" dirty="0"/>
          </a:p>
        </p:txBody>
      </p:sp>
      <p:sp>
        <p:nvSpPr>
          <p:cNvPr id="8" name="Text 33">
            <a:extLst>
              <a:ext uri="{FF2B5EF4-FFF2-40B4-BE49-F238E27FC236}">
                <a16:creationId xmlns:a16="http://schemas.microsoft.com/office/drawing/2014/main" id="{17B1939E-44D1-04F4-939E-6057AE2C4477}"/>
              </a:ext>
            </a:extLst>
          </p:cNvPr>
          <p:cNvSpPr txBox="1"/>
          <p:nvPr/>
        </p:nvSpPr>
        <p:spPr>
          <a:xfrm>
            <a:off x="847578" y="4337343"/>
            <a:ext cx="3108960" cy="17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>
                <a:solidFill>
                  <a:srgbClr val="23282C"/>
                </a:solidFill>
                <a:latin typeface="Lora" pitchFamily="2" charset="0"/>
              </a:rPr>
              <a:t>Musée Guimet </a:t>
            </a:r>
            <a:r>
              <a:rPr lang="en-US" sz="1600" dirty="0">
                <a:solidFill>
                  <a:srgbClr val="23282C"/>
                </a:solidFill>
                <a:latin typeface="Lora" pitchFamily="2" charset="0"/>
                <a:ea typeface="Aptos" pitchFamily="34" charset="-122"/>
                <a:cs typeface="Aptos" pitchFamily="34" charset="-120"/>
              </a:rPr>
              <a:t>• National Museum of Cambodia • WebOfScience • Scopus • Google Scholar • UNESCO reports • APSARA reports • ESRI Geodata</a:t>
            </a:r>
            <a:endParaRPr lang="en-US" sz="1600" dirty="0">
              <a:latin typeface="Lora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BB12E00-F496-ADF7-0F40-29E821875E6B}"/>
              </a:ext>
            </a:extLst>
          </p:cNvPr>
          <p:cNvSpPr txBox="1"/>
          <p:nvPr/>
        </p:nvSpPr>
        <p:spPr>
          <a:xfrm>
            <a:off x="4479627" y="5654693"/>
            <a:ext cx="3243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ora" pitchFamily="2" charset="0"/>
              </a:rPr>
              <a:t>AAT </a:t>
            </a:r>
            <a:r>
              <a:rPr lang="en-US" dirty="0">
                <a:solidFill>
                  <a:srgbClr val="23282C"/>
                </a:solidFill>
                <a:latin typeface="Lora" pitchFamily="2" charset="0"/>
                <a:ea typeface="Aptos" pitchFamily="34" charset="-122"/>
                <a:cs typeface="Aptos" pitchFamily="34" charset="-120"/>
              </a:rPr>
              <a:t>•</a:t>
            </a:r>
            <a:r>
              <a:rPr lang="en-US" dirty="0">
                <a:latin typeface="Lora" pitchFamily="2" charset="0"/>
              </a:rPr>
              <a:t> Wikidata </a:t>
            </a:r>
            <a:r>
              <a:rPr lang="en-US" dirty="0">
                <a:solidFill>
                  <a:srgbClr val="23282C"/>
                </a:solidFill>
                <a:latin typeface="Lora" pitchFamily="2" charset="0"/>
                <a:ea typeface="Aptos" pitchFamily="34" charset="-122"/>
                <a:cs typeface="Aptos" pitchFamily="34" charset="-120"/>
              </a:rPr>
              <a:t>•</a:t>
            </a:r>
            <a:r>
              <a:rPr lang="en-US" dirty="0">
                <a:latin typeface="Lora" pitchFamily="2" charset="0"/>
              </a:rPr>
              <a:t> GeoNames</a:t>
            </a:r>
          </a:p>
        </p:txBody>
      </p:sp>
      <p:sp>
        <p:nvSpPr>
          <p:cNvPr id="16" name="Text 28">
            <a:extLst>
              <a:ext uri="{FF2B5EF4-FFF2-40B4-BE49-F238E27FC236}">
                <a16:creationId xmlns:a16="http://schemas.microsoft.com/office/drawing/2014/main" id="{FAC2287E-B677-BAEC-4545-4ED0EBE80BE1}"/>
              </a:ext>
            </a:extLst>
          </p:cNvPr>
          <p:cNvSpPr txBox="1"/>
          <p:nvPr/>
        </p:nvSpPr>
        <p:spPr>
          <a:xfrm>
            <a:off x="4532954" y="5398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00" b="1" dirty="0"/>
              <a:t>CONTROLLED VOCABULARY</a:t>
            </a: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375A6925-C3B3-F9D5-5C51-B8AB1113E9EA}"/>
              </a:ext>
            </a:extLst>
          </p:cNvPr>
          <p:cNvCxnSpPr/>
          <p:nvPr/>
        </p:nvCxnSpPr>
        <p:spPr>
          <a:xfrm>
            <a:off x="1221515" y="792000"/>
            <a:ext cx="3420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ABAC095-AE10-0CEC-0557-6737F0AC166B}"/>
              </a:ext>
            </a:extLst>
          </p:cNvPr>
          <p:cNvCxnSpPr/>
          <p:nvPr/>
        </p:nvCxnSpPr>
        <p:spPr>
          <a:xfrm>
            <a:off x="7515635" y="792000"/>
            <a:ext cx="3420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: Curvo 5">
            <a:extLst>
              <a:ext uri="{FF2B5EF4-FFF2-40B4-BE49-F238E27FC236}">
                <a16:creationId xmlns:a16="http://schemas.microsoft.com/office/drawing/2014/main" id="{DBF113CF-518F-BD9F-32E5-A991A4D62CB1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8273195" y="1329018"/>
            <a:ext cx="542754" cy="446492"/>
          </a:xfrm>
          <a:prstGeom prst="curved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35710C4-56E0-6DAE-4572-6B923A5FFF16}"/>
              </a:ext>
            </a:extLst>
          </p:cNvPr>
          <p:cNvSpPr txBox="1"/>
          <p:nvPr/>
        </p:nvSpPr>
        <p:spPr>
          <a:xfrm>
            <a:off x="8815949" y="1175129"/>
            <a:ext cx="1404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kh: Namespace</a:t>
            </a:r>
          </a:p>
        </p:txBody>
      </p:sp>
    </p:spTree>
    <p:extLst>
      <p:ext uri="{BB962C8B-B14F-4D97-AF65-F5344CB8AC3E}">
        <p14:creationId xmlns:p14="http://schemas.microsoft.com/office/powerpoint/2010/main" val="287988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7E3D98C4-2E85-29A5-A3AB-EEA34DCADE7F}"/>
              </a:ext>
            </a:extLst>
          </p:cNvPr>
          <p:cNvSpPr txBox="1">
            <a:spLocks/>
          </p:cNvSpPr>
          <p:nvPr/>
        </p:nvSpPr>
        <p:spPr>
          <a:xfrm>
            <a:off x="90793" y="2806189"/>
            <a:ext cx="21951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Lora" pitchFamily="2" charset="0"/>
              </a:rPr>
              <a:t> Conceptual Model</a:t>
            </a:r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395FBB6E-41CD-2274-A0F0-E4E873AFB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716" y="436088"/>
            <a:ext cx="9395254" cy="6026340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5A23575F-5CB9-E2F5-B32C-A928D261D7F1}"/>
              </a:ext>
            </a:extLst>
          </p:cNvPr>
          <p:cNvCxnSpPr>
            <a:cxnSpLocks/>
          </p:cNvCxnSpPr>
          <p:nvPr/>
        </p:nvCxnSpPr>
        <p:spPr>
          <a:xfrm>
            <a:off x="721076" y="3695533"/>
            <a:ext cx="939794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114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1E8464C-30A1-2F10-CA89-1C75BC5D02D9}"/>
              </a:ext>
            </a:extLst>
          </p:cNvPr>
          <p:cNvSpPr txBox="1">
            <a:spLocks/>
          </p:cNvSpPr>
          <p:nvPr/>
        </p:nvSpPr>
        <p:spPr>
          <a:xfrm>
            <a:off x="594360" y="421804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latin typeface="Lora" pitchFamily="2" charset="0"/>
              </a:rPr>
              <a:t>Results: Knowledge Graph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5E48634-7CDF-0640-5DC0-9086DEDF0E27}"/>
              </a:ext>
            </a:extLst>
          </p:cNvPr>
          <p:cNvSpPr txBox="1"/>
          <p:nvPr/>
        </p:nvSpPr>
        <p:spPr>
          <a:xfrm>
            <a:off x="5662911" y="1447343"/>
            <a:ext cx="3018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effectLst/>
                <a:latin typeface="Lora" pitchFamily="2" charset="0"/>
                <a:ea typeface="Aptos" panose="020B0004020202020204" pitchFamily="34" charset="0"/>
              </a:rPr>
              <a:t>3,272</a:t>
            </a:r>
            <a:r>
              <a:rPr lang="en-US" sz="2000" b="1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  <a:t> </a:t>
            </a:r>
            <a:r>
              <a:rPr lang="en-US" sz="1800" b="1" dirty="0">
                <a:solidFill>
                  <a:srgbClr val="00B0F0"/>
                </a:solidFill>
                <a:effectLst/>
                <a:ea typeface="Aptos" panose="020B0004020202020204" pitchFamily="34" charset="0"/>
              </a:rPr>
              <a:t>named individuals 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7508BC-CBCF-5FA4-6CCE-4C60D7D42CE9}"/>
              </a:ext>
            </a:extLst>
          </p:cNvPr>
          <p:cNvSpPr txBox="1"/>
          <p:nvPr/>
        </p:nvSpPr>
        <p:spPr>
          <a:xfrm>
            <a:off x="5662911" y="2179513"/>
            <a:ext cx="6094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Lora" pitchFamily="2" charset="0"/>
                <a:ea typeface="Aptos" panose="020B0004020202020204" pitchFamily="34" charset="0"/>
              </a:rPr>
              <a:t>229</a:t>
            </a:r>
            <a:r>
              <a:rPr lang="en-US" sz="1800" dirty="0">
                <a:effectLst/>
                <a:ea typeface="Aptos" panose="020B0004020202020204" pitchFamily="34" charset="0"/>
              </a:rPr>
              <a:t> objects (</a:t>
            </a:r>
            <a:r>
              <a:rPr lang="en-US" sz="18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crm:E22_Human-Made Object</a:t>
            </a:r>
            <a:r>
              <a:rPr lang="en-US" sz="1800" dirty="0">
                <a:effectLst/>
                <a:ea typeface="Aptos" panose="020B0004020202020204" pitchFamily="34" charset="0"/>
              </a:rPr>
              <a:t>) </a:t>
            </a:r>
          </a:p>
          <a:p>
            <a:r>
              <a:rPr lang="en-US" sz="2400" dirty="0">
                <a:latin typeface="Lora" pitchFamily="2" charset="0"/>
                <a:ea typeface="Aptos" panose="020B0004020202020204" pitchFamily="34" charset="0"/>
              </a:rPr>
              <a:t>177</a:t>
            </a:r>
            <a:r>
              <a:rPr lang="en-US" dirty="0">
                <a:ea typeface="Aptos" panose="020B0004020202020204" pitchFamily="34" charset="0"/>
              </a:rPr>
              <a:t> sites (</a:t>
            </a:r>
            <a:r>
              <a:rPr lang="en-US" dirty="0"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crm:E27_Site</a:t>
            </a:r>
            <a:r>
              <a:rPr lang="en-US" dirty="0">
                <a:ea typeface="Aptos" panose="020B0004020202020204" pitchFamily="34" charset="0"/>
              </a:rPr>
              <a:t>)</a:t>
            </a:r>
          </a:p>
          <a:p>
            <a:r>
              <a:rPr lang="en-US" sz="2400" dirty="0">
                <a:latin typeface="Lora" pitchFamily="2" charset="0"/>
                <a:ea typeface="Aptos" panose="020B0004020202020204" pitchFamily="34" charset="0"/>
              </a:rPr>
              <a:t>20 </a:t>
            </a:r>
            <a:r>
              <a:rPr lang="en-US" dirty="0">
                <a:ea typeface="Aptos" panose="020B0004020202020204" pitchFamily="34" charset="0"/>
              </a:rPr>
              <a:t>conservation projects (</a:t>
            </a:r>
            <a:r>
              <a:rPr lang="en-US" dirty="0"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crm:E7_Activity</a:t>
            </a:r>
            <a:r>
              <a:rPr lang="en-US" dirty="0">
                <a:ea typeface="Aptos" panose="020B0004020202020204" pitchFamily="34" charset="0"/>
              </a:rPr>
              <a:t>)</a:t>
            </a:r>
            <a:br>
              <a:rPr lang="en-US" dirty="0">
                <a:ea typeface="Aptos" panose="020B0004020202020204" pitchFamily="34" charset="0"/>
              </a:rPr>
            </a:br>
            <a:r>
              <a:rPr lang="en-US" sz="2400" dirty="0">
                <a:latin typeface="Lora" pitchFamily="2" charset="0"/>
                <a:ea typeface="Aptos" panose="020B0004020202020204" pitchFamily="34" charset="0"/>
              </a:rPr>
              <a:t>231 </a:t>
            </a:r>
            <a:r>
              <a:rPr lang="en-US" dirty="0">
                <a:ea typeface="Aptos" panose="020B0004020202020204" pitchFamily="34" charset="0"/>
              </a:rPr>
              <a:t>Publications (</a:t>
            </a:r>
            <a:r>
              <a:rPr lang="en-US" dirty="0"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dct:BibliographicResource</a:t>
            </a:r>
            <a:r>
              <a:rPr lang="en-US" dirty="0">
                <a:ea typeface="Aptos" panose="020B0004020202020204" pitchFamily="34" charset="0"/>
              </a:rPr>
              <a:t>)</a:t>
            </a:r>
            <a:endParaRPr lang="en-US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97F307E-0300-2D00-2E3F-A772D2FAE4E8}"/>
              </a:ext>
            </a:extLst>
          </p:cNvPr>
          <p:cNvSpPr txBox="1"/>
          <p:nvPr/>
        </p:nvSpPr>
        <p:spPr>
          <a:xfrm>
            <a:off x="5662911" y="4040191"/>
            <a:ext cx="7011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effectLst/>
                <a:latin typeface="Lora" pitchFamily="2" charset="0"/>
                <a:ea typeface="Aptos" panose="020B0004020202020204" pitchFamily="34" charset="0"/>
              </a:rPr>
              <a:t>63 </a:t>
            </a:r>
            <a:r>
              <a:rPr lang="fr-FR" dirty="0">
                <a:effectLst/>
                <a:ea typeface="Aptos" panose="020B0004020202020204" pitchFamily="34" charset="0"/>
              </a:rPr>
              <a:t>places (</a:t>
            </a:r>
            <a:r>
              <a:rPr lang="fr-FR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crm:E53_Place</a:t>
            </a:r>
            <a:r>
              <a:rPr lang="fr-FR" dirty="0">
                <a:effectLst/>
                <a:ea typeface="Aptos" panose="020B0004020202020204" pitchFamily="34" charset="0"/>
              </a:rPr>
              <a:t>) </a:t>
            </a:r>
            <a:endParaRPr lang="fr-FR" sz="2400" dirty="0">
              <a:effectLst/>
              <a:ea typeface="Aptos" panose="020B0004020202020204" pitchFamily="34" charset="0"/>
            </a:endParaRPr>
          </a:p>
          <a:p>
            <a:r>
              <a:rPr lang="en-US" sz="2400" dirty="0">
                <a:effectLst/>
                <a:latin typeface="Lora" pitchFamily="2" charset="0"/>
                <a:ea typeface="Aptos" panose="020B0004020202020204" pitchFamily="34" charset="0"/>
              </a:rPr>
              <a:t>392</a:t>
            </a:r>
            <a:r>
              <a:rPr lang="en-US" sz="1800" dirty="0">
                <a:effectLst/>
                <a:ea typeface="Aptos" panose="020B0004020202020204" pitchFamily="34" charset="0"/>
              </a:rPr>
              <a:t> persons 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foaf:person</a:t>
            </a:r>
            <a:r>
              <a:rPr lang="en-US" sz="1800" dirty="0">
                <a:effectLst/>
                <a:ea typeface="Aptos" panose="020B0004020202020204" pitchFamily="34" charset="0"/>
              </a:rPr>
              <a:t>)</a:t>
            </a:r>
          </a:p>
          <a:p>
            <a:r>
              <a:rPr lang="en-US" sz="2400" dirty="0">
                <a:effectLst/>
                <a:latin typeface="Lora" pitchFamily="2" charset="0"/>
                <a:ea typeface="Aptos" panose="020B0004020202020204" pitchFamily="34" charset="0"/>
              </a:rPr>
              <a:t>230</a:t>
            </a:r>
            <a:r>
              <a:rPr lang="en-US" sz="1800" dirty="0">
                <a:effectLst/>
                <a:ea typeface="Aptos" panose="020B0004020202020204" pitchFamily="34" charset="0"/>
              </a:rPr>
              <a:t> organizations (</a:t>
            </a:r>
            <a:r>
              <a:rPr lang="en-US" sz="18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foaf:organization</a:t>
            </a:r>
            <a:r>
              <a:rPr lang="en-US" sz="1800" dirty="0">
                <a:effectLst/>
                <a:ea typeface="Aptos" panose="020B0004020202020204" pitchFamily="34" charset="0"/>
              </a:rPr>
              <a:t>)</a:t>
            </a:r>
            <a:endParaRPr lang="en-US" dirty="0">
              <a:ea typeface="Aptos" panose="020B0004020202020204" pitchFamily="34" charset="0"/>
            </a:endParaRPr>
          </a:p>
          <a:p>
            <a:r>
              <a:rPr lang="en-US" sz="2400" dirty="0">
                <a:effectLst/>
                <a:latin typeface="Lora" pitchFamily="2" charset="0"/>
                <a:ea typeface="Aptos" panose="020B0004020202020204" pitchFamily="34" charset="0"/>
              </a:rPr>
              <a:t>402</a:t>
            </a:r>
            <a:r>
              <a:rPr lang="en-US" sz="1800" dirty="0">
                <a:effectLst/>
                <a:ea typeface="Aptos" panose="020B0004020202020204" pitchFamily="34" charset="0"/>
              </a:rPr>
              <a:t> production events (</a:t>
            </a:r>
            <a:r>
              <a:rPr lang="en-US" sz="18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crm:E12_Production</a:t>
            </a:r>
            <a:r>
              <a:rPr lang="en-US" sz="1800" dirty="0">
                <a:effectLst/>
                <a:ea typeface="Aptos" panose="020B0004020202020204" pitchFamily="34" charset="0"/>
              </a:rPr>
              <a:t>)</a:t>
            </a:r>
            <a:endParaRPr lang="en-US" dirty="0">
              <a:ea typeface="Aptos" panose="020B0004020202020204" pitchFamily="34" charset="0"/>
            </a:endParaRPr>
          </a:p>
          <a:p>
            <a:r>
              <a:rPr lang="en-US" sz="2400" dirty="0">
                <a:effectLst/>
                <a:latin typeface="Lora" pitchFamily="2" charset="0"/>
                <a:ea typeface="Aptos" panose="020B0004020202020204" pitchFamily="34" charset="0"/>
              </a:rPr>
              <a:t>421</a:t>
            </a:r>
            <a:r>
              <a:rPr lang="en-US" sz="1800" dirty="0">
                <a:effectLst/>
                <a:ea typeface="Aptos" panose="020B0004020202020204" pitchFamily="34" charset="0"/>
              </a:rPr>
              <a:t> time-spans (</a:t>
            </a:r>
            <a:r>
              <a:rPr lang="en-US" sz="18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crm:E52_Time-Span</a:t>
            </a:r>
            <a:r>
              <a:rPr lang="en-US" sz="1800" dirty="0">
                <a:effectLst/>
                <a:ea typeface="Aptos" panose="020B0004020202020204" pitchFamily="34" charset="0"/>
              </a:rPr>
              <a:t>)</a:t>
            </a:r>
            <a:endParaRPr lang="en-US" dirty="0">
              <a:ea typeface="Aptos" panose="020B0004020202020204" pitchFamily="34" charset="0"/>
            </a:endParaRPr>
          </a:p>
          <a:p>
            <a:r>
              <a:rPr lang="en-US" sz="2400" dirty="0">
                <a:effectLst/>
                <a:latin typeface="Lora" pitchFamily="2" charset="0"/>
                <a:ea typeface="Aptos" panose="020B0004020202020204" pitchFamily="34" charset="0"/>
              </a:rPr>
              <a:t>17</a:t>
            </a:r>
            <a:r>
              <a:rPr lang="en-US" sz="1800" dirty="0">
                <a:effectLst/>
                <a:ea typeface="Aptos" panose="020B0004020202020204" pitchFamily="34" charset="0"/>
              </a:rPr>
              <a:t> materials</a:t>
            </a:r>
            <a:r>
              <a:rPr lang="en-US" dirty="0">
                <a:ea typeface="Aptos" panose="020B0004020202020204" pitchFamily="34" charset="0"/>
              </a:rPr>
              <a:t> (</a:t>
            </a:r>
            <a:r>
              <a:rPr lang="en-US" dirty="0">
                <a:latin typeface="Courier New" panose="02070309020205020404" pitchFamily="49" charset="0"/>
                <a:ea typeface="Aptos" panose="020B0004020202020204" pitchFamily="34" charset="0"/>
                <a:cs typeface="Courier New" panose="02070309020205020404" pitchFamily="49" charset="0"/>
              </a:rPr>
              <a:t>skos:Concept</a:t>
            </a:r>
            <a:r>
              <a:rPr lang="en-US" dirty="0">
                <a:ea typeface="Aptos" panose="020B0004020202020204" pitchFamily="34" charset="0"/>
              </a:rPr>
              <a:t>)</a:t>
            </a:r>
            <a:endParaRPr lang="en-US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DEB26D6C-A265-9C74-09BC-9FE72FAE955D}"/>
              </a:ext>
            </a:extLst>
          </p:cNvPr>
          <p:cNvSpPr txBox="1">
            <a:spLocks/>
          </p:cNvSpPr>
          <p:nvPr/>
        </p:nvSpPr>
        <p:spPr>
          <a:xfrm>
            <a:off x="917294" y="1299825"/>
            <a:ext cx="21110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— GRAPH SCALE</a:t>
            </a:r>
            <a:endParaRPr lang="en-US" sz="2000" dirty="0">
              <a:latin typeface="Lora" pitchFamily="2" charset="0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72D7A771-5F24-6E32-6754-2BDDF6468722}"/>
              </a:ext>
            </a:extLst>
          </p:cNvPr>
          <p:cNvSpPr txBox="1">
            <a:spLocks/>
          </p:cNvSpPr>
          <p:nvPr/>
        </p:nvSpPr>
        <p:spPr>
          <a:xfrm>
            <a:off x="917294" y="2060402"/>
            <a:ext cx="40135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— FOUR INTERCONNECTED AXES</a:t>
            </a:r>
            <a:endParaRPr lang="en-US" sz="2000" dirty="0">
              <a:latin typeface="Lora" pitchFamily="2" charset="0"/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CC7E016C-0CE9-2846-EEC5-2AC6C37A3875}"/>
              </a:ext>
            </a:extLst>
          </p:cNvPr>
          <p:cNvSpPr txBox="1">
            <a:spLocks/>
          </p:cNvSpPr>
          <p:nvPr/>
        </p:nvSpPr>
        <p:spPr>
          <a:xfrm>
            <a:off x="917294" y="3981276"/>
            <a:ext cx="40135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— CONTEXTUAL NODES</a:t>
            </a:r>
            <a:endParaRPr lang="en-US" sz="2000" dirty="0">
              <a:latin typeface="Lora" pitchFamily="2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0AFAEE4-9E97-59BA-B2F7-54EBF651B45F}"/>
              </a:ext>
            </a:extLst>
          </p:cNvPr>
          <p:cNvCxnSpPr/>
          <p:nvPr/>
        </p:nvCxnSpPr>
        <p:spPr>
          <a:xfrm>
            <a:off x="1221515" y="792000"/>
            <a:ext cx="2268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D7CCA48-D9BB-DDCD-132B-09CC5D38269F}"/>
              </a:ext>
            </a:extLst>
          </p:cNvPr>
          <p:cNvCxnSpPr/>
          <p:nvPr/>
        </p:nvCxnSpPr>
        <p:spPr>
          <a:xfrm>
            <a:off x="8681010" y="792000"/>
            <a:ext cx="2268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347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1BF459B4-A47D-9685-8BD4-EDC56FA94D33}"/>
              </a:ext>
            </a:extLst>
          </p:cNvPr>
          <p:cNvSpPr txBox="1">
            <a:spLocks/>
          </p:cNvSpPr>
          <p:nvPr/>
        </p:nvSpPr>
        <p:spPr>
          <a:xfrm>
            <a:off x="594360" y="421804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latin typeface="Lora" pitchFamily="2" charset="0"/>
              </a:rPr>
              <a:t>Results: Competency questions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9ADC196-50D4-702F-BE71-9F91F3BE9165}"/>
              </a:ext>
            </a:extLst>
          </p:cNvPr>
          <p:cNvSpPr txBox="1"/>
          <p:nvPr/>
        </p:nvSpPr>
        <p:spPr>
          <a:xfrm>
            <a:off x="2295926" y="1086876"/>
            <a:ext cx="75971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>
                <a:latin typeface="Aptos" pitchFamily="34" charset="0"/>
                <a:ea typeface="Aptos" pitchFamily="34" charset="-122"/>
                <a:cs typeface="Aptos" pitchFamily="34" charset="-120"/>
              </a:rPr>
              <a:t>Internal and cross-domain retrieval</a:t>
            </a:r>
            <a:endParaRPr lang="en-US" sz="2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D81E126-19A6-7918-C697-D111E514A132}"/>
              </a:ext>
            </a:extLst>
          </p:cNvPr>
          <p:cNvSpPr txBox="1"/>
          <p:nvPr/>
        </p:nvSpPr>
        <p:spPr>
          <a:xfrm>
            <a:off x="1005520" y="2152058"/>
            <a:ext cx="10177911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800"/>
              </a:spcAft>
              <a:tabLst>
                <a:tab pos="630555" algn="l"/>
              </a:tabLst>
            </a:pPr>
            <a:r>
              <a:rPr lang="en-US" sz="2400" dirty="0">
                <a:solidFill>
                  <a:srgbClr val="00B0F0"/>
                </a:solidFill>
                <a:latin typeface="Lora" pitchFamily="2" charset="0"/>
              </a:rPr>
              <a:t>Q1. </a:t>
            </a:r>
            <a:r>
              <a:rPr lang="en-US" dirty="0"/>
              <a:t>Which scientific fields produce most publications related to Khmer heritage?</a:t>
            </a:r>
          </a:p>
          <a:p>
            <a:pPr lvl="0" algn="just">
              <a:lnSpc>
                <a:spcPct val="100000"/>
              </a:lnSpc>
              <a:spcAft>
                <a:spcPts val="1800"/>
              </a:spcAft>
              <a:tabLst>
                <a:tab pos="630555" algn="l"/>
              </a:tabLst>
            </a:pPr>
            <a:r>
              <a:rPr lang="en-US" sz="2400" kern="100" dirty="0">
                <a:solidFill>
                  <a:srgbClr val="00B0F0"/>
                </a:solidFill>
                <a:effectLst/>
                <a:latin typeface="Lor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Q2</a:t>
            </a:r>
            <a:r>
              <a:rPr lang="en-US" sz="2400" kern="100" dirty="0">
                <a:effectLst/>
                <a:latin typeface="Lora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Which publications are associated with museum objects?</a:t>
            </a:r>
          </a:p>
          <a:p>
            <a:pPr algn="just">
              <a:spcAft>
                <a:spcPts val="1800"/>
              </a:spcAft>
              <a:tabLst>
                <a:tab pos="630555" algn="l"/>
              </a:tabLst>
            </a:pPr>
            <a:r>
              <a:rPr lang="en-US" sz="2400" dirty="0">
                <a:solidFill>
                  <a:srgbClr val="00B0F0"/>
                </a:solidFill>
                <a:latin typeface="Lora" pitchFamily="2" charset="0"/>
              </a:rPr>
              <a:t>Q3. </a:t>
            </a:r>
            <a:r>
              <a:rPr lang="en-US" dirty="0"/>
              <a:t>Which materials were employed in the construction of temples at Sambor Prei Kuk?</a:t>
            </a:r>
          </a:p>
          <a:p>
            <a:pPr lvl="0">
              <a:spcAft>
                <a:spcPts val="1800"/>
              </a:spcAft>
            </a:pPr>
            <a:r>
              <a:rPr lang="en-US" sz="2400" dirty="0">
                <a:solidFill>
                  <a:srgbClr val="00B0F0"/>
                </a:solidFill>
                <a:latin typeface="Lora" pitchFamily="2" charset="0"/>
              </a:rPr>
              <a:t>Q4. </a:t>
            </a:r>
            <a:r>
              <a:rPr lang="en-US" dirty="0"/>
              <a:t>Which countries host institutions that preserve objects dating back to the ninth century? </a:t>
            </a:r>
          </a:p>
          <a:p>
            <a:pPr algn="just">
              <a:spcAft>
                <a:spcPts val="1800"/>
              </a:spcAft>
              <a:tabLst>
                <a:tab pos="630555" algn="l"/>
              </a:tabLst>
            </a:pPr>
            <a:r>
              <a:rPr lang="en-US" sz="2400" dirty="0">
                <a:solidFill>
                  <a:srgbClr val="00B0F0"/>
                </a:solidFill>
                <a:latin typeface="Lora" pitchFamily="2" charset="0"/>
              </a:rPr>
              <a:t>Q5. </a:t>
            </a:r>
            <a:r>
              <a:rPr lang="en-US" dirty="0"/>
              <a:t>Which institutions produce the largest volume of publications concerning Preah Vihear Temple?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rgbClr val="00B0F0"/>
                </a:solidFill>
                <a:latin typeface="Lora" pitchFamily="2" charset="0"/>
              </a:rPr>
              <a:t>Q6. </a:t>
            </a:r>
            <a:r>
              <a:rPr lang="en-US" dirty="0"/>
              <a:t>Which projects focus on constructions commissioned during the reign of Jayavarman IV ?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541F38EB-4246-C2EA-21C0-6F12D7545952}"/>
              </a:ext>
            </a:extLst>
          </p:cNvPr>
          <p:cNvCxnSpPr/>
          <p:nvPr/>
        </p:nvCxnSpPr>
        <p:spPr>
          <a:xfrm>
            <a:off x="1221515" y="792000"/>
            <a:ext cx="1836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281EC04E-DE41-F7E7-BCBE-EFF3A6F7E10E}"/>
              </a:ext>
            </a:extLst>
          </p:cNvPr>
          <p:cNvCxnSpPr/>
          <p:nvPr/>
        </p:nvCxnSpPr>
        <p:spPr>
          <a:xfrm>
            <a:off x="9100595" y="792000"/>
            <a:ext cx="1836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618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78543C0E-F88E-3962-F2D7-B6FDB2E7A2D1}"/>
              </a:ext>
            </a:extLst>
          </p:cNvPr>
          <p:cNvSpPr txBox="1">
            <a:spLocks/>
          </p:cNvSpPr>
          <p:nvPr/>
        </p:nvSpPr>
        <p:spPr>
          <a:xfrm>
            <a:off x="594360" y="421804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latin typeface="Lora" pitchFamily="2" charset="0"/>
              </a:rPr>
              <a:t>Discussion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CF0ABF5E-DF06-4C35-A15F-9AC1BB85A47A}"/>
              </a:ext>
            </a:extLst>
          </p:cNvPr>
          <p:cNvSpPr txBox="1"/>
          <p:nvPr/>
        </p:nvSpPr>
        <p:spPr>
          <a:xfrm>
            <a:off x="964461" y="1421476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Queries validate retrieval</a:t>
            </a:r>
            <a:endParaRPr lang="en-US" sz="1600" dirty="0">
              <a:latin typeface="Lora" pitchFamily="2" charset="0"/>
            </a:endParaRPr>
          </a:p>
          <a:p>
            <a:pPr marL="0" indent="0">
              <a:buNone/>
            </a:pPr>
            <a:r>
              <a:rPr lang="en-US" sz="1700" dirty="0">
                <a:latin typeface="Aptos" pitchFamily="34" charset="0"/>
                <a:ea typeface="Aptos" pitchFamily="34" charset="-122"/>
                <a:cs typeface="Aptos" pitchFamily="34" charset="-120"/>
              </a:rPr>
              <a:t>SPARQL execution shows that intended relationships can be retrieved; it does not prove historical truth.</a:t>
            </a:r>
            <a:endParaRPr lang="en-US" sz="17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B8CB71C-6A3D-5DC7-C4DC-45A3DAD763C6}"/>
              </a:ext>
            </a:extLst>
          </p:cNvPr>
          <p:cNvSpPr txBox="1"/>
          <p:nvPr/>
        </p:nvSpPr>
        <p:spPr>
          <a:xfrm>
            <a:off x="4625594" y="1431867"/>
            <a:ext cx="29377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Modeling is interpretative</a:t>
            </a:r>
            <a:endParaRPr lang="en-US" sz="1600" dirty="0">
              <a:latin typeface="Lora" pitchFamily="2" charset="0"/>
            </a:endParaRPr>
          </a:p>
          <a:p>
            <a:pPr marL="0" indent="0">
              <a:buNone/>
            </a:pPr>
            <a:r>
              <a:rPr lang="en-US" sz="1700" dirty="0">
                <a:latin typeface="Aptos" pitchFamily="34" charset="0"/>
                <a:ea typeface="Aptos" pitchFamily="34" charset="-122"/>
                <a:cs typeface="Aptos" pitchFamily="34" charset="-120"/>
              </a:rPr>
              <a:t>More than a strict technical implementation, modeling is an epistemic process.</a:t>
            </a:r>
            <a:endParaRPr lang="en-US" sz="17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95CDB93-9A9B-2D66-79E5-844C429EF0C3}"/>
              </a:ext>
            </a:extLst>
          </p:cNvPr>
          <p:cNvSpPr txBox="1"/>
          <p:nvPr/>
        </p:nvSpPr>
        <p:spPr>
          <a:xfrm>
            <a:off x="8115531" y="14173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Interoperability ≠ uniformity</a:t>
            </a:r>
            <a:endParaRPr lang="en-US" sz="1600" dirty="0">
              <a:latin typeface="Lora" pitchFamily="2" charset="0"/>
            </a:endParaRPr>
          </a:p>
          <a:p>
            <a:pPr marL="0" indent="0">
              <a:buNone/>
            </a:pPr>
            <a:r>
              <a:rPr lang="en-US" sz="1700" dirty="0">
                <a:latin typeface="Aptos" pitchFamily="34" charset="0"/>
                <a:ea typeface="Aptos" pitchFamily="34" charset="-122"/>
                <a:cs typeface="Aptos" pitchFamily="34" charset="-120"/>
              </a:rPr>
              <a:t>The model connects sources while preserving differences in terminology, granularity and interpretation.</a:t>
            </a:r>
            <a:endParaRPr lang="en-US" sz="1700" dirty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DFDA062B-4A6D-379D-BC54-3605758D7AEC}"/>
              </a:ext>
            </a:extLst>
          </p:cNvPr>
          <p:cNvCxnSpPr/>
          <p:nvPr/>
        </p:nvCxnSpPr>
        <p:spPr>
          <a:xfrm>
            <a:off x="1221515" y="792000"/>
            <a:ext cx="3600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36F03C7-ECFC-7A37-4492-14DD9A3F3852}"/>
              </a:ext>
            </a:extLst>
          </p:cNvPr>
          <p:cNvCxnSpPr/>
          <p:nvPr/>
        </p:nvCxnSpPr>
        <p:spPr>
          <a:xfrm>
            <a:off x="7332755" y="792000"/>
            <a:ext cx="3600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4">
            <a:extLst>
              <a:ext uri="{FF2B5EF4-FFF2-40B4-BE49-F238E27FC236}">
                <a16:creationId xmlns:a16="http://schemas.microsoft.com/office/drawing/2014/main" id="{7407232D-31CD-AC1B-D632-5F05DE9E0B41}"/>
              </a:ext>
            </a:extLst>
          </p:cNvPr>
          <p:cNvSpPr txBox="1"/>
          <p:nvPr/>
        </p:nvSpPr>
        <p:spPr>
          <a:xfrm>
            <a:off x="1221515" y="4029595"/>
            <a:ext cx="5272803" cy="240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Current limitations</a:t>
            </a:r>
            <a:endParaRPr lang="en-US" sz="1600" dirty="0">
              <a:latin typeface="Lora" pitchFamily="2" charset="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Sample corpus and limited source availability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Manual entity reconciliation does not scale easily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Object custody trajectories remain incomplete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No visualization interface implemented or evaluated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721839E-6629-FAA9-9D27-1289522F2FC7}"/>
              </a:ext>
            </a:extLst>
          </p:cNvPr>
          <p:cNvSpPr txBox="1"/>
          <p:nvPr/>
        </p:nvSpPr>
        <p:spPr>
          <a:xfrm>
            <a:off x="6723750" y="4029594"/>
            <a:ext cx="4500741" cy="240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Further developments</a:t>
            </a:r>
            <a:endParaRPr lang="en-US" sz="1600" dirty="0">
              <a:latin typeface="Lora" pitchFamily="2" charset="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Expand corpus and institutional coverage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FontTx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Semi-automated reconciliation workflows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Web interface: maps, timelines, networks and provenance views</a:t>
            </a:r>
          </a:p>
          <a:p>
            <a:pPr marL="228600" indent="-228600">
              <a:spcAft>
                <a:spcPts val="800"/>
              </a:spcAft>
              <a:buSzPct val="100000"/>
              <a:buFontTx/>
              <a:buChar char="•"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Represent competing scholarly interpretations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4DAD83C-E702-7A8F-CF61-60A69594E495}"/>
              </a:ext>
            </a:extLst>
          </p:cNvPr>
          <p:cNvCxnSpPr/>
          <p:nvPr/>
        </p:nvCxnSpPr>
        <p:spPr>
          <a:xfrm>
            <a:off x="4390840" y="3625254"/>
            <a:ext cx="3600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28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E6F08BC-2E79-898D-7D99-54EF64DA5795}"/>
              </a:ext>
            </a:extLst>
          </p:cNvPr>
          <p:cNvSpPr txBox="1">
            <a:spLocks/>
          </p:cNvSpPr>
          <p:nvPr/>
        </p:nvSpPr>
        <p:spPr>
          <a:xfrm>
            <a:off x="594360" y="421804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latin typeface="Lora" pitchFamily="2" charset="0"/>
              </a:rPr>
              <a:t>Conclusion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D98785-40B2-749D-16C6-8FFD62C4CE31}"/>
              </a:ext>
            </a:extLst>
          </p:cNvPr>
          <p:cNvSpPr txBox="1"/>
          <p:nvPr/>
        </p:nvSpPr>
        <p:spPr>
          <a:xfrm>
            <a:off x="1097280" y="2331719"/>
            <a:ext cx="3017520" cy="270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Technical contribution</a:t>
            </a:r>
          </a:p>
          <a:p>
            <a:endParaRPr lang="en-US" sz="1600" dirty="0"/>
          </a:p>
          <a:p>
            <a:r>
              <a:rPr lang="en-US" sz="1600" dirty="0"/>
              <a:t>A queryable RDF knowledge graph grounded in CIDOC CRM that connects four dimensions of Khmer cultural heritage documentation.</a:t>
            </a: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A0FB4B9E-5B3D-FBFE-9E0F-6E3C6C679EEE}"/>
              </a:ext>
            </a:extLst>
          </p:cNvPr>
          <p:cNvSpPr txBox="1"/>
          <p:nvPr/>
        </p:nvSpPr>
        <p:spPr>
          <a:xfrm>
            <a:off x="4727448" y="2331719"/>
            <a:ext cx="3017520" cy="257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Methodological contribution</a:t>
            </a:r>
            <a:endParaRPr lang="en-US" sz="2400" dirty="0">
              <a:latin typeface="Lora" pitchFamily="2" charset="0"/>
            </a:endParaRPr>
          </a:p>
          <a:p>
            <a:b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600" dirty="0"/>
              <a:t>Semantic integration as a process that balances structural normalization, granularity, uncertainty, and must be documented beyond technical implementation.</a:t>
            </a: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A082F004-D2E8-332A-F36D-11094390356B}"/>
              </a:ext>
            </a:extLst>
          </p:cNvPr>
          <p:cNvSpPr txBox="1"/>
          <p:nvPr/>
        </p:nvSpPr>
        <p:spPr>
          <a:xfrm>
            <a:off x="8357616" y="2331720"/>
            <a:ext cx="3017520" cy="257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Research contribution</a:t>
            </a:r>
          </a:p>
          <a:p>
            <a:endParaRPr lang="en-US" sz="1600" dirty="0"/>
          </a:p>
          <a:p>
            <a:r>
              <a:rPr lang="en-US" sz="1600" dirty="0"/>
              <a:t>Unifies fragmented Khmer documentation into a semantic framework that enables scholars to navigate across distributed institutional archives and gather connected information.</a:t>
            </a: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51B4E21A-9BD2-D054-E9DB-53C2FB0D9411}"/>
              </a:ext>
            </a:extLst>
          </p:cNvPr>
          <p:cNvSpPr txBox="1"/>
          <p:nvPr/>
        </p:nvSpPr>
        <p:spPr>
          <a:xfrm>
            <a:off x="822960" y="5852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latin typeface="Lora" pitchFamily="2" charset="0"/>
                <a:ea typeface="Aptos" pitchFamily="34" charset="-122"/>
                <a:cs typeface="Aptos" pitchFamily="34" charset="-120"/>
              </a:rPr>
              <a:t>Thank you  •  Questions</a:t>
            </a:r>
            <a:endParaRPr lang="en-US" sz="2400" dirty="0">
              <a:latin typeface="Lora" pitchFamily="2" charset="0"/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0A2A9405-A72D-8D4A-58E4-B1DBCAD51B7D}"/>
              </a:ext>
            </a:extLst>
          </p:cNvPr>
          <p:cNvCxnSpPr/>
          <p:nvPr/>
        </p:nvCxnSpPr>
        <p:spPr>
          <a:xfrm>
            <a:off x="1221515" y="792000"/>
            <a:ext cx="3528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3912F821-AB2E-03B3-A4EF-EA1E6DD1418A}"/>
              </a:ext>
            </a:extLst>
          </p:cNvPr>
          <p:cNvCxnSpPr/>
          <p:nvPr/>
        </p:nvCxnSpPr>
        <p:spPr>
          <a:xfrm>
            <a:off x="7317515" y="792000"/>
            <a:ext cx="3528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0F4194D-18E5-6311-1BAF-838BE323E77F}"/>
              </a:ext>
            </a:extLst>
          </p:cNvPr>
          <p:cNvCxnSpPr>
            <a:cxnSpLocks/>
          </p:cNvCxnSpPr>
          <p:nvPr/>
        </p:nvCxnSpPr>
        <p:spPr>
          <a:xfrm>
            <a:off x="8107680" y="6156480"/>
            <a:ext cx="2736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DEC6A03-C1F8-F962-35E6-90C087FA3E45}"/>
              </a:ext>
            </a:extLst>
          </p:cNvPr>
          <p:cNvCxnSpPr>
            <a:cxnSpLocks/>
          </p:cNvCxnSpPr>
          <p:nvPr/>
        </p:nvCxnSpPr>
        <p:spPr>
          <a:xfrm>
            <a:off x="1478280" y="6156480"/>
            <a:ext cx="273600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9325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627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Lora</vt:lpstr>
      <vt:lpstr>Times New Roman</vt:lpstr>
      <vt:lpstr>Tema do Office</vt:lpstr>
      <vt:lpstr>UNIFYING KHMER CULTURAL HERITAGE: A Semantic Data Model for Cross-Institutional Integration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Rubens '-'</dc:creator>
  <cp:lastModifiedBy>Rubens '-'</cp:lastModifiedBy>
  <cp:revision>23</cp:revision>
  <dcterms:created xsi:type="dcterms:W3CDTF">2026-10-12T10:36:48Z</dcterms:created>
  <dcterms:modified xsi:type="dcterms:W3CDTF">2026-10-29T20:26:57Z</dcterms:modified>
</cp:coreProperties>
</file>